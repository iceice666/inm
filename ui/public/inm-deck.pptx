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9BF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82100" y="609600"/>
            <a:ext cx="1866900" cy="1047750"/>
          </a:xfrm>
          <a:prstGeom prst="rect">
            <a:avLst/>
          </a:prstGeom>
          <a:solidFill>
            <a:srgbClr val="C9BFB6"/>
          </a:solidFill>
          <a:ln w="9525">
            <a:solidFill>
              <a:srgbClr val="AFA8A3">
                <a:alpha val="70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000000">
                <a:alpha val="3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572500" y="914400"/>
            <a:ext cx="2857500" cy="3314700"/>
          </a:xfrm>
          <a:prstGeom prst="rect">
            <a:avLst/>
          </a:prstGeom>
          <a:solidFill>
            <a:srgbClr val="3E343F"/>
          </a:solidFill>
          <a:ln w="9525">
            <a:solidFill>
              <a:srgbClr val="AFA8A3">
                <a:alpha val="70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382000" y="4133850"/>
            <a:ext cx="1676400" cy="1676400"/>
          </a:xfrm>
          <a:prstGeom prst="rect">
            <a:avLst/>
          </a:prstGeom>
          <a:solidFill>
            <a:srgbClr val="A1736B"/>
          </a:solidFill>
          <a:ln w="9525">
            <a:solidFill>
              <a:srgbClr val="AFA8A3">
                <a:alpha val="70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38200" y="685800"/>
            <a:ext cx="438150" cy="438150"/>
          </a:xfrm>
          <a:prstGeom prst="roundRect">
            <a:avLst>
              <a:gd name="adj" fmla="val 21739"/>
            </a:avLst>
          </a:prstGeom>
          <a:solidFill>
            <a:srgbClr val="E8E1DB"/>
          </a:solidFill>
          <a:ln w="9525">
            <a:solidFill>
              <a:srgbClr val="AFA8A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685800"/>
            <a:ext cx="438150" cy="4381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09700" y="728663"/>
            <a:ext cx="58626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inm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838200" y="1662271"/>
            <a:ext cx="1083106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14" kern="0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OKLCH palette for quiet interfaces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38200" y="2214721"/>
            <a:ext cx="8241030" cy="2509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4"/>
              </a:lnSpc>
              <a:buNone/>
            </a:pPr>
            <a:r>
              <a:rPr lang="en-US" sz="6900" b="1" spc="-34" kern="0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Warm stone, soft clay, deep plum.</a:t>
            </a:r>
            <a:endParaRPr lang="en-US" sz="6900" dirty="0"/>
          </a:p>
        </p:txBody>
      </p:sp>
      <p:sp>
        <p:nvSpPr>
          <p:cNvPr id="10" name="Text 7"/>
          <p:cNvSpPr/>
          <p:nvPr/>
        </p:nvSpPr>
        <p:spPr>
          <a:xfrm>
            <a:off x="838200" y="4933633"/>
            <a:ext cx="745617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low-chroma color system for editorial tools, dashboards, and calm creative product UI.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38200" y="5986463"/>
            <a:ext cx="189944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system overview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436225" y="5988844"/>
            <a:ext cx="9937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25B5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inm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9BF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857250"/>
            <a:ext cx="1083106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14" kern="0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we'll cover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38200" y="1390650"/>
            <a:ext cx="1083106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838200" y="2076450"/>
            <a:ext cx="10515600" cy="9525"/>
          </a:xfrm>
          <a:prstGeom prst="rect">
            <a:avLst/>
          </a:prstGeom>
          <a:solidFill>
            <a:srgbClr val="AFA8A3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2302669"/>
            <a:ext cx="95250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7E4F4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981200" y="2295525"/>
            <a:ext cx="752615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Foundations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516745" y="2378869"/>
            <a:ext cx="187515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Anchors, tokens, modes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38200" y="2857500"/>
            <a:ext cx="10515600" cy="9525"/>
          </a:xfrm>
          <a:prstGeom prst="rect">
            <a:avLst/>
          </a:prstGeom>
          <a:solidFill>
            <a:srgbClr val="AFA8A3"/>
          </a:solidFill>
          <a:ln/>
        </p:spPr>
      </p:sp>
      <p:sp>
        <p:nvSpPr>
          <p:cNvPr id="9" name="Text 7"/>
          <p:cNvSpPr/>
          <p:nvPr/>
        </p:nvSpPr>
        <p:spPr>
          <a:xfrm>
            <a:off x="876300" y="3083719"/>
            <a:ext cx="95250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7E4F4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981200" y="3076575"/>
            <a:ext cx="782587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product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807734" y="3159919"/>
            <a:ext cx="158416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Dense, scannable UI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8200" y="3638550"/>
            <a:ext cx="10515600" cy="9525"/>
          </a:xfrm>
          <a:prstGeom prst="rect">
            <a:avLst/>
          </a:prstGeom>
          <a:solidFill>
            <a:srgbClr val="AFA8A3"/>
          </a:solidFill>
          <a:ln/>
        </p:spPr>
      </p:sp>
      <p:sp>
        <p:nvSpPr>
          <p:cNvPr id="13" name="Text 11"/>
          <p:cNvSpPr/>
          <p:nvPr/>
        </p:nvSpPr>
        <p:spPr>
          <a:xfrm>
            <a:off x="876300" y="3864769"/>
            <a:ext cx="95250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7E4F4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981200" y="3857625"/>
            <a:ext cx="794376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Contrast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922192" y="3940969"/>
            <a:ext cx="146970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APCA, both modes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8200" y="5200650"/>
            <a:ext cx="10515600" cy="9525"/>
          </a:xfrm>
          <a:prstGeom prst="rect">
            <a:avLst/>
          </a:prstGeom>
          <a:solidFill>
            <a:srgbClr val="AFA8A3"/>
          </a:solidFill>
          <a:ln/>
        </p:spPr>
      </p:sp>
      <p:sp>
        <p:nvSpPr>
          <p:cNvPr id="17" name="Shape 15"/>
          <p:cNvSpPr/>
          <p:nvPr/>
        </p:nvSpPr>
        <p:spPr>
          <a:xfrm>
            <a:off x="838200" y="4419600"/>
            <a:ext cx="10515600" cy="9525"/>
          </a:xfrm>
          <a:prstGeom prst="rect">
            <a:avLst/>
          </a:prstGeom>
          <a:solidFill>
            <a:srgbClr val="AFA8A3"/>
          </a:solidFill>
          <a:ln/>
        </p:spPr>
      </p:sp>
      <p:sp>
        <p:nvSpPr>
          <p:cNvPr id="18" name="Text 16"/>
          <p:cNvSpPr/>
          <p:nvPr/>
        </p:nvSpPr>
        <p:spPr>
          <a:xfrm>
            <a:off x="876300" y="4645819"/>
            <a:ext cx="95250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7E4F49">
                    <a:alpha val="50000"/>
                  </a:srgbClr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981200" y="4638675"/>
            <a:ext cx="812902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F2730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Handoff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0102057" y="4722019"/>
            <a:ext cx="128984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Tailwind v4 &amp; v3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8200" y="5986463"/>
            <a:ext cx="113093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inm — agenda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170286" y="5988844"/>
            <a:ext cx="25971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25B5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E3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2121852"/>
            <a:ext cx="10831068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D7A09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— Foundations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838200" y="2688590"/>
            <a:ext cx="9025890" cy="1685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4"/>
              </a:lnSpc>
              <a:buNone/>
            </a:pPr>
            <a:r>
              <a:rPr lang="en-US" sz="6900" b="1" spc="-34" kern="0" dirty="0">
                <a:solidFill>
                  <a:srgbClr val="E8E1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anchors, tuned into UI tokens.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838200" y="4678998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D7A095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9BF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857250"/>
            <a:ext cx="1083106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14" kern="0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palette works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38200" y="1390650"/>
            <a:ext cx="1083106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Quiet by default, clear on intent.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838200" y="3288506"/>
            <a:ext cx="5140833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Hierarchy comes from tone and border, not from color noise or heavy shadow. One action color does the signalling; everything else stays calm.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362700" y="2565718"/>
            <a:ext cx="4991100" cy="850106"/>
          </a:xfrm>
          <a:prstGeom prst="roundRect">
            <a:avLst>
              <a:gd name="adj" fmla="val 8964"/>
            </a:avLst>
          </a:prstGeom>
          <a:solidFill>
            <a:srgbClr val="DAD2CB"/>
          </a:solidFill>
          <a:ln w="9525">
            <a:solidFill>
              <a:srgbClr val="AFA8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62725" y="2746693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7E4F49"/>
          </a:solidFill>
          <a:ln/>
        </p:spPr>
      </p:sp>
      <p:sp>
        <p:nvSpPr>
          <p:cNvPr id="7" name="Text 5"/>
          <p:cNvSpPr/>
          <p:nvPr/>
        </p:nvSpPr>
        <p:spPr>
          <a:xfrm>
            <a:off x="6562725" y="2746693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8E1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7000875" y="2765743"/>
            <a:ext cx="4277487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Warm canvas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7000875" y="3027680"/>
            <a:ext cx="4277487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Stone in light, plum in dark — never pure black or white.</a:t>
            </a:r>
            <a:endParaRPr lang="en-US" sz="1125" dirty="0"/>
          </a:p>
        </p:txBody>
      </p:sp>
      <p:sp>
        <p:nvSpPr>
          <p:cNvPr id="10" name="Shape 8"/>
          <p:cNvSpPr/>
          <p:nvPr/>
        </p:nvSpPr>
        <p:spPr>
          <a:xfrm>
            <a:off x="6362700" y="3549174"/>
            <a:ext cx="4991100" cy="850106"/>
          </a:xfrm>
          <a:prstGeom prst="roundRect">
            <a:avLst>
              <a:gd name="adj" fmla="val 8964"/>
            </a:avLst>
          </a:prstGeom>
          <a:solidFill>
            <a:srgbClr val="DAD2CB"/>
          </a:solidFill>
          <a:ln w="9525">
            <a:solidFill>
              <a:srgbClr val="AFA8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62725" y="3730149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7E4F49"/>
          </a:solidFill>
          <a:ln/>
        </p:spPr>
      </p:sp>
      <p:sp>
        <p:nvSpPr>
          <p:cNvPr id="12" name="Text 10"/>
          <p:cNvSpPr/>
          <p:nvPr/>
        </p:nvSpPr>
        <p:spPr>
          <a:xfrm>
            <a:off x="6562725" y="3730149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8E1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7000875" y="3749199"/>
            <a:ext cx="4277487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Clay is the signal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7000875" y="4011136"/>
            <a:ext cx="4277487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single accent for actions, links, and active state.</a:t>
            </a:r>
            <a:endParaRPr lang="en-US" sz="1125" dirty="0"/>
          </a:p>
        </p:txBody>
      </p:sp>
      <p:sp>
        <p:nvSpPr>
          <p:cNvPr id="15" name="Shape 13"/>
          <p:cNvSpPr/>
          <p:nvPr/>
        </p:nvSpPr>
        <p:spPr>
          <a:xfrm>
            <a:off x="6362700" y="4532630"/>
            <a:ext cx="4991100" cy="850106"/>
          </a:xfrm>
          <a:prstGeom prst="roundRect">
            <a:avLst>
              <a:gd name="adj" fmla="val 8964"/>
            </a:avLst>
          </a:prstGeom>
          <a:solidFill>
            <a:srgbClr val="DAD2CB"/>
          </a:solidFill>
          <a:ln w="9525">
            <a:solidFill>
              <a:srgbClr val="AFA8A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62725" y="4713605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7E4F49"/>
          </a:solidFill>
          <a:ln/>
        </p:spPr>
      </p:sp>
      <p:sp>
        <p:nvSpPr>
          <p:cNvPr id="17" name="Text 15"/>
          <p:cNvSpPr/>
          <p:nvPr/>
        </p:nvSpPr>
        <p:spPr>
          <a:xfrm>
            <a:off x="6562725" y="4713605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8E1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7000875" y="4732655"/>
            <a:ext cx="4277487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Mist for state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7000875" y="4994593"/>
            <a:ext cx="4277487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cool support tone for quiet statuses and metadata.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838200" y="5986463"/>
            <a:ext cx="147224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inm — foundations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170286" y="5988844"/>
            <a:ext cx="25971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25B5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9BF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857250"/>
            <a:ext cx="1083106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14" kern="0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 get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38200" y="1390650"/>
            <a:ext cx="1083106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system, not a swatch file.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838200" y="2228850"/>
            <a:ext cx="3390900" cy="1951672"/>
          </a:xfrm>
          <a:prstGeom prst="roundRect">
            <a:avLst>
              <a:gd name="adj" fmla="val 5857"/>
            </a:avLst>
          </a:prstGeom>
          <a:solidFill>
            <a:srgbClr val="DAD2CB"/>
          </a:solidFill>
          <a:ln w="9525">
            <a:solidFill>
              <a:srgbClr val="AFA8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6325" y="2486025"/>
            <a:ext cx="285750" cy="285750"/>
          </a:xfrm>
          <a:prstGeom prst="rect">
            <a:avLst/>
          </a:prstGeom>
          <a:solidFill>
            <a:srgbClr val="7E4F49"/>
          </a:solidFill>
          <a:ln/>
        </p:spPr>
      </p:sp>
      <p:sp>
        <p:nvSpPr>
          <p:cNvPr id="6" name="Shape 4"/>
          <p:cNvSpPr/>
          <p:nvPr/>
        </p:nvSpPr>
        <p:spPr>
          <a:xfrm>
            <a:off x="1285875" y="2695575"/>
            <a:ext cx="247650" cy="247650"/>
          </a:xfrm>
          <a:prstGeom prst="rect">
            <a:avLst/>
          </a:prstGeom>
          <a:solidFill>
            <a:srgbClr val="E8E1DB"/>
          </a:solidFill>
          <a:ln w="9525">
            <a:solidFill>
              <a:srgbClr val="2F2730">
                <a:alpha val="26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6325" y="3076575"/>
            <a:ext cx="300209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anchors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1076325" y="3481388"/>
            <a:ext cx="300209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Plum, clay, mist, and stone tuned into a full token scale.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00550" y="2228850"/>
            <a:ext cx="3390900" cy="1951672"/>
          </a:xfrm>
          <a:prstGeom prst="roundRect">
            <a:avLst>
              <a:gd name="adj" fmla="val 5857"/>
            </a:avLst>
          </a:prstGeom>
          <a:solidFill>
            <a:srgbClr val="DAD2CB"/>
          </a:solidFill>
          <a:ln w="9525">
            <a:solidFill>
              <a:srgbClr val="AFA8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8675" y="2486025"/>
            <a:ext cx="190500" cy="457200"/>
          </a:xfrm>
          <a:prstGeom prst="rect">
            <a:avLst/>
          </a:prstGeom>
          <a:solidFill>
            <a:srgbClr val="E8E1DB"/>
          </a:solidFill>
          <a:ln w="9525">
            <a:solidFill>
              <a:srgbClr val="2F2730">
                <a:alpha val="2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05375" y="2486025"/>
            <a:ext cx="190500" cy="457200"/>
          </a:xfrm>
          <a:prstGeom prst="rect">
            <a:avLst/>
          </a:prstGeom>
          <a:solidFill>
            <a:srgbClr val="7E4F49"/>
          </a:solidFill>
          <a:ln/>
        </p:spPr>
      </p:sp>
      <p:sp>
        <p:nvSpPr>
          <p:cNvPr id="12" name="Text 10"/>
          <p:cNvSpPr/>
          <p:nvPr/>
        </p:nvSpPr>
        <p:spPr>
          <a:xfrm>
            <a:off x="4638675" y="3076575"/>
            <a:ext cx="300209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 &amp; dark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4638675" y="3481388"/>
            <a:ext cx="300209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semantic map drives both modes with identical behavior.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62900" y="2228850"/>
            <a:ext cx="3390900" cy="1951672"/>
          </a:xfrm>
          <a:prstGeom prst="roundRect">
            <a:avLst>
              <a:gd name="adj" fmla="val 5857"/>
            </a:avLst>
          </a:prstGeom>
          <a:solidFill>
            <a:srgbClr val="DAD2CB"/>
          </a:solidFill>
          <a:ln w="9525">
            <a:solidFill>
              <a:srgbClr val="AFA8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01025" y="2695575"/>
            <a:ext cx="104775" cy="247650"/>
          </a:xfrm>
          <a:prstGeom prst="rect">
            <a:avLst/>
          </a:prstGeom>
          <a:solidFill>
            <a:srgbClr val="79837F"/>
          </a:solidFill>
          <a:ln/>
        </p:spPr>
      </p:sp>
      <p:sp>
        <p:nvSpPr>
          <p:cNvPr id="16" name="Shape 14"/>
          <p:cNvSpPr/>
          <p:nvPr/>
        </p:nvSpPr>
        <p:spPr>
          <a:xfrm>
            <a:off x="8372475" y="2524125"/>
            <a:ext cx="104775" cy="419100"/>
          </a:xfrm>
          <a:prstGeom prst="rect">
            <a:avLst/>
          </a:prstGeom>
          <a:solidFill>
            <a:srgbClr val="7E4F49"/>
          </a:solidFill>
          <a:ln/>
        </p:spPr>
      </p:sp>
      <p:sp>
        <p:nvSpPr>
          <p:cNvPr id="17" name="Shape 15"/>
          <p:cNvSpPr/>
          <p:nvPr/>
        </p:nvSpPr>
        <p:spPr>
          <a:xfrm>
            <a:off x="8543925" y="2619375"/>
            <a:ext cx="104775" cy="323850"/>
          </a:xfrm>
          <a:prstGeom prst="rect">
            <a:avLst/>
          </a:prstGeom>
          <a:solidFill>
            <a:srgbClr val="79837F"/>
          </a:solidFill>
          <a:ln/>
        </p:spPr>
      </p:sp>
      <p:sp>
        <p:nvSpPr>
          <p:cNvPr id="18" name="Text 16"/>
          <p:cNvSpPr/>
          <p:nvPr/>
        </p:nvSpPr>
        <p:spPr>
          <a:xfrm>
            <a:off x="8201025" y="3076575"/>
            <a:ext cx="300209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APCA-tuned</a:t>
            </a:r>
            <a:endParaRPr lang="en-US" sz="1725" dirty="0"/>
          </a:p>
        </p:txBody>
      </p:sp>
      <p:sp>
        <p:nvSpPr>
          <p:cNvPr id="19" name="Text 17"/>
          <p:cNvSpPr/>
          <p:nvPr/>
        </p:nvSpPr>
        <p:spPr>
          <a:xfrm>
            <a:off x="8201025" y="3481388"/>
            <a:ext cx="300209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Contrast measured per surface, not guessed from hex math.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38200" y="4351972"/>
            <a:ext cx="3390900" cy="1951673"/>
          </a:xfrm>
          <a:prstGeom prst="roundRect">
            <a:avLst>
              <a:gd name="adj" fmla="val 5857"/>
            </a:avLst>
          </a:prstGeom>
          <a:solidFill>
            <a:srgbClr val="DAD2CB"/>
          </a:solidFill>
          <a:ln w="9525">
            <a:solidFill>
              <a:srgbClr val="AFA8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6325" y="4609147"/>
            <a:ext cx="457200" cy="457200"/>
          </a:xfrm>
          <a:prstGeom prst="rect">
            <a:avLst/>
          </a:prstGeom>
          <a:ln w="9525">
            <a:solidFill>
              <a:srgbClr val="2F2730">
                <a:alpha val="2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9675" y="4742497"/>
            <a:ext cx="190500" cy="190500"/>
          </a:xfrm>
          <a:prstGeom prst="rect">
            <a:avLst/>
          </a:prstGeom>
          <a:solidFill>
            <a:srgbClr val="7E4F49"/>
          </a:solidFill>
          <a:ln/>
        </p:spPr>
      </p:sp>
      <p:sp>
        <p:nvSpPr>
          <p:cNvPr id="23" name="Text 21"/>
          <p:cNvSpPr/>
          <p:nvPr/>
        </p:nvSpPr>
        <p:spPr>
          <a:xfrm>
            <a:off x="1076325" y="5199698"/>
            <a:ext cx="300209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Quiet elevation</a:t>
            </a:r>
            <a:endParaRPr lang="en-US" sz="1725" dirty="0"/>
          </a:p>
        </p:txBody>
      </p:sp>
      <p:sp>
        <p:nvSpPr>
          <p:cNvPr id="24" name="Text 22"/>
          <p:cNvSpPr/>
          <p:nvPr/>
        </p:nvSpPr>
        <p:spPr>
          <a:xfrm>
            <a:off x="1076325" y="5604510"/>
            <a:ext cx="300209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Hierarchy from border and tone — shadows used sparingly.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00550" y="4351972"/>
            <a:ext cx="3390900" cy="1951673"/>
          </a:xfrm>
          <a:prstGeom prst="roundRect">
            <a:avLst>
              <a:gd name="adj" fmla="val 5857"/>
            </a:avLst>
          </a:prstGeom>
          <a:solidFill>
            <a:srgbClr val="DAD2CB"/>
          </a:solidFill>
          <a:ln w="9525">
            <a:solidFill>
              <a:srgbClr val="AFA8A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38675" y="4609147"/>
            <a:ext cx="457200" cy="104775"/>
          </a:xfrm>
          <a:prstGeom prst="rect">
            <a:avLst/>
          </a:prstGeom>
          <a:solidFill>
            <a:srgbClr val="E8E1DB"/>
          </a:solidFill>
          <a:ln w="9525">
            <a:solidFill>
              <a:srgbClr val="2F2730">
                <a:alpha val="2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38675" y="4780597"/>
            <a:ext cx="304800" cy="104775"/>
          </a:xfrm>
          <a:prstGeom prst="rect">
            <a:avLst/>
          </a:prstGeom>
          <a:solidFill>
            <a:srgbClr val="7E4F49"/>
          </a:solidFill>
          <a:ln/>
        </p:spPr>
      </p:sp>
      <p:sp>
        <p:nvSpPr>
          <p:cNvPr id="28" name="Shape 26"/>
          <p:cNvSpPr/>
          <p:nvPr/>
        </p:nvSpPr>
        <p:spPr>
          <a:xfrm>
            <a:off x="4638675" y="4952048"/>
            <a:ext cx="457200" cy="104775"/>
          </a:xfrm>
          <a:prstGeom prst="rect">
            <a:avLst/>
          </a:prstGeom>
          <a:solidFill>
            <a:srgbClr val="E8E1DB"/>
          </a:solidFill>
          <a:ln w="9525">
            <a:solidFill>
              <a:srgbClr val="2F2730">
                <a:alpha val="26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38675" y="5199698"/>
            <a:ext cx="300209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Dense-ready</a:t>
            </a:r>
            <a:endParaRPr lang="en-US" sz="1725" dirty="0"/>
          </a:p>
        </p:txBody>
      </p:sp>
      <p:sp>
        <p:nvSpPr>
          <p:cNvPr id="30" name="Text 28"/>
          <p:cNvSpPr/>
          <p:nvPr/>
        </p:nvSpPr>
        <p:spPr>
          <a:xfrm>
            <a:off x="4638675" y="5604510"/>
            <a:ext cx="300209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tables, dashboards, and editorial tools.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962900" y="4351972"/>
            <a:ext cx="3390900" cy="1951673"/>
          </a:xfrm>
          <a:prstGeom prst="roundRect">
            <a:avLst>
              <a:gd name="adj" fmla="val 5857"/>
            </a:avLst>
          </a:prstGeom>
          <a:solidFill>
            <a:srgbClr val="DAD2CB"/>
          </a:solidFill>
          <a:ln w="9525">
            <a:solidFill>
              <a:srgbClr val="AFA8A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86750" y="4609147"/>
            <a:ext cx="285750" cy="285750"/>
          </a:xfrm>
          <a:prstGeom prst="rect">
            <a:avLst/>
          </a:prstGeom>
          <a:solidFill>
            <a:srgbClr val="7E4F49"/>
          </a:solidFill>
          <a:ln/>
        </p:spPr>
      </p:sp>
      <p:sp>
        <p:nvSpPr>
          <p:cNvPr id="33" name="Shape 31"/>
          <p:cNvSpPr/>
          <p:nvPr/>
        </p:nvSpPr>
        <p:spPr>
          <a:xfrm>
            <a:off x="8201025" y="4856797"/>
            <a:ext cx="209550" cy="209550"/>
          </a:xfrm>
          <a:prstGeom prst="rect">
            <a:avLst/>
          </a:prstGeom>
          <a:solidFill>
            <a:srgbClr val="79837F"/>
          </a:solidFill>
          <a:ln/>
        </p:spPr>
      </p:sp>
      <p:sp>
        <p:nvSpPr>
          <p:cNvPr id="34" name="Shape 32"/>
          <p:cNvSpPr/>
          <p:nvPr/>
        </p:nvSpPr>
        <p:spPr>
          <a:xfrm>
            <a:off x="8448675" y="4856797"/>
            <a:ext cx="209550" cy="209550"/>
          </a:xfrm>
          <a:prstGeom prst="rect">
            <a:avLst/>
          </a:prstGeom>
          <a:solidFill>
            <a:srgbClr val="E8E1DB"/>
          </a:solidFill>
          <a:ln w="9525">
            <a:solidFill>
              <a:srgbClr val="2F2730">
                <a:alpha val="26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01025" y="5199698"/>
            <a:ext cx="300209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Portable handoff</a:t>
            </a:r>
            <a:endParaRPr lang="en-US" sz="1725" dirty="0"/>
          </a:p>
        </p:txBody>
      </p:sp>
      <p:sp>
        <p:nvSpPr>
          <p:cNvPr id="36" name="Text 34"/>
          <p:cNvSpPr/>
          <p:nvPr/>
        </p:nvSpPr>
        <p:spPr>
          <a:xfrm>
            <a:off x="8201025" y="5604510"/>
            <a:ext cx="300209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Exports cleanly to Tailwind v4 and v3 configs.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38200" y="6303645"/>
            <a:ext cx="119935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inm — features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170286" y="6306026"/>
            <a:ext cx="25971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25B5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9BF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857250"/>
            <a:ext cx="1083106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14" kern="0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roles, two moods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38200" y="1390650"/>
            <a:ext cx="10831068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 and dark share the same behavior.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838200" y="2800350"/>
            <a:ext cx="5143500" cy="3371850"/>
          </a:xfrm>
          <a:prstGeom prst="roundRect">
            <a:avLst>
              <a:gd name="adj" fmla="val 2825"/>
            </a:avLst>
          </a:prstGeom>
          <a:solidFill>
            <a:srgbClr val="C9BFB6"/>
          </a:solidFill>
          <a:ln w="9525">
            <a:solidFill>
              <a:srgbClr val="AFA8A3"/>
            </a:solidFill>
            <a:prstDash val="solid"/>
          </a:ln>
          <a:effectLst>
            <a:outerShdw sx="100000" sy="100000" kx="0" ky="0" algn="bl" rotWithShape="0" blurRad="381000" dist="17145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7725" y="3257550"/>
            <a:ext cx="5124450" cy="9525"/>
          </a:xfrm>
          <a:prstGeom prst="rect">
            <a:avLst/>
          </a:prstGeom>
          <a:solidFill>
            <a:srgbClr val="AFA8A3"/>
          </a:solidFill>
          <a:ln/>
        </p:spPr>
      </p:sp>
      <p:sp>
        <p:nvSpPr>
          <p:cNvPr id="6" name="Text 4"/>
          <p:cNvSpPr/>
          <p:nvPr/>
        </p:nvSpPr>
        <p:spPr>
          <a:xfrm>
            <a:off x="1019175" y="2943225"/>
            <a:ext cx="85804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 mode</a:t>
            </a:r>
            <a:endParaRPr lang="en-US" sz="1125" dirty="0"/>
          </a:p>
        </p:txBody>
      </p:sp>
      <p:sp>
        <p:nvSpPr>
          <p:cNvPr id="7" name="Shape 5"/>
          <p:cNvSpPr/>
          <p:nvPr/>
        </p:nvSpPr>
        <p:spPr>
          <a:xfrm>
            <a:off x="5353050" y="2981325"/>
            <a:ext cx="104775" cy="104775"/>
          </a:xfrm>
          <a:prstGeom prst="ellipse">
            <a:avLst/>
          </a:prstGeom>
          <a:solidFill>
            <a:srgbClr val="625B5E"/>
          </a:solidFill>
          <a:ln/>
        </p:spPr>
      </p:sp>
      <p:sp>
        <p:nvSpPr>
          <p:cNvPr id="8" name="Shape 6"/>
          <p:cNvSpPr/>
          <p:nvPr/>
        </p:nvSpPr>
        <p:spPr>
          <a:xfrm>
            <a:off x="5524500" y="2981325"/>
            <a:ext cx="104775" cy="104775"/>
          </a:xfrm>
          <a:prstGeom prst="ellipse">
            <a:avLst/>
          </a:prstGeom>
          <a:solidFill>
            <a:srgbClr val="79837F"/>
          </a:solidFill>
          <a:ln/>
        </p:spPr>
      </p:sp>
      <p:sp>
        <p:nvSpPr>
          <p:cNvPr id="9" name="Shape 7"/>
          <p:cNvSpPr/>
          <p:nvPr/>
        </p:nvSpPr>
        <p:spPr>
          <a:xfrm>
            <a:off x="5695950" y="2981325"/>
            <a:ext cx="104775" cy="104775"/>
          </a:xfrm>
          <a:prstGeom prst="ellipse">
            <a:avLst/>
          </a:prstGeom>
          <a:solidFill>
            <a:srgbClr val="7E4F49"/>
          </a:solidFill>
          <a:ln/>
        </p:spPr>
      </p:sp>
      <p:sp>
        <p:nvSpPr>
          <p:cNvPr id="10" name="Shape 8"/>
          <p:cNvSpPr/>
          <p:nvPr/>
        </p:nvSpPr>
        <p:spPr>
          <a:xfrm>
            <a:off x="1019175" y="3438525"/>
            <a:ext cx="4781550" cy="476250"/>
          </a:xfrm>
          <a:prstGeom prst="roundRect">
            <a:avLst>
              <a:gd name="adj" fmla="val 16000"/>
            </a:avLst>
          </a:prstGeom>
          <a:solidFill>
            <a:srgbClr val="DAD2CB"/>
          </a:solidFill>
          <a:ln w="9525">
            <a:solidFill>
              <a:srgbClr val="AFA8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62050" y="3624263"/>
            <a:ext cx="104775" cy="104775"/>
          </a:xfrm>
          <a:prstGeom prst="ellipse">
            <a:avLst/>
          </a:prstGeom>
          <a:solidFill>
            <a:srgbClr val="7E4F49"/>
          </a:solidFill>
          <a:ln/>
        </p:spPr>
      </p:sp>
      <p:sp>
        <p:nvSpPr>
          <p:cNvPr id="12" name="Text 10"/>
          <p:cNvSpPr/>
          <p:nvPr/>
        </p:nvSpPr>
        <p:spPr>
          <a:xfrm>
            <a:off x="1400175" y="3586163"/>
            <a:ext cx="367101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Editorial workspace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5097621" y="3550444"/>
            <a:ext cx="560229" cy="252413"/>
          </a:xfrm>
          <a:prstGeom prst="roundRect">
            <a:avLst>
              <a:gd name="adj" fmla="val 22641"/>
            </a:avLst>
          </a:prstGeom>
          <a:solidFill>
            <a:srgbClr val="E8E1DB"/>
          </a:solidFill>
          <a:ln/>
        </p:spPr>
      </p:sp>
      <p:sp>
        <p:nvSpPr>
          <p:cNvPr id="14" name="Text 12"/>
          <p:cNvSpPr/>
          <p:nvPr/>
        </p:nvSpPr>
        <p:spPr>
          <a:xfrm>
            <a:off x="5183346" y="3598069"/>
            <a:ext cx="464979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1019175" y="4029075"/>
            <a:ext cx="4781550" cy="476250"/>
          </a:xfrm>
          <a:prstGeom prst="roundRect">
            <a:avLst>
              <a:gd name="adj" fmla="val 16000"/>
            </a:avLst>
          </a:prstGeom>
          <a:solidFill>
            <a:srgbClr val="DAD2CB"/>
          </a:solidFill>
          <a:ln w="9525">
            <a:solidFill>
              <a:srgbClr val="AFA8A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62050" y="4214813"/>
            <a:ext cx="104775" cy="104775"/>
          </a:xfrm>
          <a:prstGeom prst="ellipse">
            <a:avLst/>
          </a:prstGeom>
          <a:solidFill>
            <a:srgbClr val="79837F"/>
          </a:solidFill>
          <a:ln/>
        </p:spPr>
      </p:sp>
      <p:sp>
        <p:nvSpPr>
          <p:cNvPr id="17" name="Text 15"/>
          <p:cNvSpPr/>
          <p:nvPr/>
        </p:nvSpPr>
        <p:spPr>
          <a:xfrm>
            <a:off x="1400175" y="4176712"/>
            <a:ext cx="362033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controls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5048409" y="4140994"/>
            <a:ext cx="609441" cy="252413"/>
          </a:xfrm>
          <a:prstGeom prst="roundRect">
            <a:avLst>
              <a:gd name="adj" fmla="val 22641"/>
            </a:avLst>
          </a:prstGeom>
          <a:solidFill>
            <a:srgbClr val="E8E1DB"/>
          </a:solidFill>
          <a:ln/>
        </p:spPr>
      </p:sp>
      <p:sp>
        <p:nvSpPr>
          <p:cNvPr id="19" name="Text 17"/>
          <p:cNvSpPr/>
          <p:nvPr/>
        </p:nvSpPr>
        <p:spPr>
          <a:xfrm>
            <a:off x="5134134" y="4188619"/>
            <a:ext cx="51419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975" dirty="0"/>
          </a:p>
        </p:txBody>
      </p:sp>
      <p:sp>
        <p:nvSpPr>
          <p:cNvPr id="20" name="Shape 18"/>
          <p:cNvSpPr/>
          <p:nvPr/>
        </p:nvSpPr>
        <p:spPr>
          <a:xfrm>
            <a:off x="1019175" y="4619625"/>
            <a:ext cx="4781550" cy="476250"/>
          </a:xfrm>
          <a:prstGeom prst="roundRect">
            <a:avLst>
              <a:gd name="adj" fmla="val 16000"/>
            </a:avLst>
          </a:prstGeom>
          <a:solidFill>
            <a:srgbClr val="DAD2CB"/>
          </a:solidFill>
          <a:ln w="9525">
            <a:solidFill>
              <a:srgbClr val="AFA8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62050" y="4805363"/>
            <a:ext cx="104775" cy="104775"/>
          </a:xfrm>
          <a:prstGeom prst="ellipse">
            <a:avLst/>
          </a:prstGeom>
          <a:solidFill>
            <a:srgbClr val="79837F"/>
          </a:solidFill>
          <a:ln/>
        </p:spPr>
      </p:sp>
      <p:sp>
        <p:nvSpPr>
          <p:cNvPr id="22" name="Text 20"/>
          <p:cNvSpPr/>
          <p:nvPr/>
        </p:nvSpPr>
        <p:spPr>
          <a:xfrm>
            <a:off x="1400175" y="4767263"/>
            <a:ext cx="367837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 index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5104765" y="4731544"/>
            <a:ext cx="553085" cy="252413"/>
          </a:xfrm>
          <a:prstGeom prst="roundRect">
            <a:avLst>
              <a:gd name="adj" fmla="val 22641"/>
            </a:avLst>
          </a:prstGeom>
          <a:solidFill>
            <a:srgbClr val="E8E1DB"/>
          </a:solidFill>
          <a:ln/>
        </p:spPr>
      </p:sp>
      <p:sp>
        <p:nvSpPr>
          <p:cNvPr id="24" name="Text 22"/>
          <p:cNvSpPr/>
          <p:nvPr/>
        </p:nvSpPr>
        <p:spPr>
          <a:xfrm>
            <a:off x="5190490" y="4779169"/>
            <a:ext cx="45783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</a:t>
            </a:r>
            <a:endParaRPr lang="en-US" sz="975" dirty="0"/>
          </a:p>
        </p:txBody>
      </p:sp>
      <p:sp>
        <p:nvSpPr>
          <p:cNvPr id="25" name="Shape 23"/>
          <p:cNvSpPr/>
          <p:nvPr/>
        </p:nvSpPr>
        <p:spPr>
          <a:xfrm>
            <a:off x="1019175" y="5229225"/>
            <a:ext cx="4781550" cy="361950"/>
          </a:xfrm>
          <a:prstGeom prst="roundRect">
            <a:avLst>
              <a:gd name="adj" fmla="val 21053"/>
            </a:avLst>
          </a:prstGeom>
          <a:solidFill>
            <a:srgbClr val="7E4F49"/>
          </a:solidFill>
          <a:ln/>
        </p:spPr>
      </p:sp>
      <p:sp>
        <p:nvSpPr>
          <p:cNvPr id="26" name="Text 24"/>
          <p:cNvSpPr/>
          <p:nvPr/>
        </p:nvSpPr>
        <p:spPr>
          <a:xfrm>
            <a:off x="1171575" y="5305425"/>
            <a:ext cx="462019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E1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palette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10300" y="2800350"/>
            <a:ext cx="5143500" cy="3371850"/>
          </a:xfrm>
          <a:prstGeom prst="roundRect">
            <a:avLst>
              <a:gd name="adj" fmla="val 2825"/>
            </a:avLst>
          </a:prstGeom>
          <a:solidFill>
            <a:srgbClr val="3E343F"/>
          </a:solidFill>
          <a:ln w="9525">
            <a:solidFill>
              <a:srgbClr val="6B6069"/>
            </a:solidFill>
            <a:prstDash val="solid"/>
          </a:ln>
          <a:effectLst>
            <a:outerShdw sx="100000" sy="100000" kx="0" ky="0" algn="bl" rotWithShape="0" blurRad="381000" dist="171450" dir="54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9825" y="3257550"/>
            <a:ext cx="5124450" cy="9525"/>
          </a:xfrm>
          <a:prstGeom prst="rect">
            <a:avLst/>
          </a:prstGeom>
          <a:solidFill>
            <a:srgbClr val="6B6069"/>
          </a:solidFill>
          <a:ln/>
        </p:spPr>
      </p:sp>
      <p:sp>
        <p:nvSpPr>
          <p:cNvPr id="29" name="Text 27"/>
          <p:cNvSpPr/>
          <p:nvPr/>
        </p:nvSpPr>
        <p:spPr>
          <a:xfrm>
            <a:off x="6391275" y="2943225"/>
            <a:ext cx="83486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B6AF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Dark mode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10725150" y="2981325"/>
            <a:ext cx="104775" cy="104775"/>
          </a:xfrm>
          <a:prstGeom prst="ellipse">
            <a:avLst/>
          </a:prstGeom>
          <a:solidFill>
            <a:srgbClr val="B6AFAD"/>
          </a:solidFill>
          <a:ln/>
        </p:spPr>
      </p:sp>
      <p:sp>
        <p:nvSpPr>
          <p:cNvPr id="31" name="Shape 29"/>
          <p:cNvSpPr/>
          <p:nvPr/>
        </p:nvSpPr>
        <p:spPr>
          <a:xfrm>
            <a:off x="10896600" y="2981325"/>
            <a:ext cx="104775" cy="104775"/>
          </a:xfrm>
          <a:prstGeom prst="ellipse">
            <a:avLst/>
          </a:prstGeom>
          <a:solidFill>
            <a:srgbClr val="AAB4B0"/>
          </a:solidFill>
          <a:ln/>
        </p:spPr>
      </p:sp>
      <p:sp>
        <p:nvSpPr>
          <p:cNvPr id="32" name="Shape 30"/>
          <p:cNvSpPr/>
          <p:nvPr/>
        </p:nvSpPr>
        <p:spPr>
          <a:xfrm>
            <a:off x="11068050" y="2981325"/>
            <a:ext cx="104775" cy="104775"/>
          </a:xfrm>
          <a:prstGeom prst="ellipse">
            <a:avLst/>
          </a:prstGeom>
          <a:solidFill>
            <a:srgbClr val="D7A095"/>
          </a:solidFill>
          <a:ln/>
        </p:spPr>
      </p:sp>
      <p:sp>
        <p:nvSpPr>
          <p:cNvPr id="33" name="Shape 31"/>
          <p:cNvSpPr/>
          <p:nvPr/>
        </p:nvSpPr>
        <p:spPr>
          <a:xfrm>
            <a:off x="6391275" y="3438525"/>
            <a:ext cx="4781550" cy="476250"/>
          </a:xfrm>
          <a:prstGeom prst="roundRect">
            <a:avLst>
              <a:gd name="adj" fmla="val 16000"/>
            </a:avLst>
          </a:prstGeom>
          <a:solidFill>
            <a:srgbClr val="493E4A"/>
          </a:solidFill>
          <a:ln w="9525">
            <a:solidFill>
              <a:srgbClr val="6B606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34150" y="3624263"/>
            <a:ext cx="104775" cy="104775"/>
          </a:xfrm>
          <a:prstGeom prst="ellipse">
            <a:avLst/>
          </a:prstGeom>
          <a:solidFill>
            <a:srgbClr val="D7A095"/>
          </a:solidFill>
          <a:ln/>
        </p:spPr>
      </p:sp>
      <p:sp>
        <p:nvSpPr>
          <p:cNvPr id="35" name="Text 33"/>
          <p:cNvSpPr/>
          <p:nvPr/>
        </p:nvSpPr>
        <p:spPr>
          <a:xfrm>
            <a:off x="6772275" y="3586163"/>
            <a:ext cx="381392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8E1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Creative console</a:t>
            </a:r>
            <a:endParaRPr lang="en-US" sz="1125" dirty="0"/>
          </a:p>
        </p:txBody>
      </p:sp>
      <p:sp>
        <p:nvSpPr>
          <p:cNvPr id="36" name="Shape 34"/>
          <p:cNvSpPr/>
          <p:nvPr/>
        </p:nvSpPr>
        <p:spPr>
          <a:xfrm>
            <a:off x="10608469" y="3550444"/>
            <a:ext cx="421481" cy="252413"/>
          </a:xfrm>
          <a:prstGeom prst="roundRect">
            <a:avLst>
              <a:gd name="adj" fmla="val 22641"/>
            </a:avLst>
          </a:prstGeom>
          <a:solidFill>
            <a:srgbClr val="584B59"/>
          </a:solidFill>
          <a:ln/>
        </p:spPr>
      </p:sp>
      <p:sp>
        <p:nvSpPr>
          <p:cNvPr id="37" name="Text 35"/>
          <p:cNvSpPr/>
          <p:nvPr/>
        </p:nvSpPr>
        <p:spPr>
          <a:xfrm>
            <a:off x="10694194" y="3598069"/>
            <a:ext cx="32623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6AF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</a:t>
            </a:r>
            <a:endParaRPr lang="en-US" sz="975" dirty="0"/>
          </a:p>
        </p:txBody>
      </p:sp>
      <p:sp>
        <p:nvSpPr>
          <p:cNvPr id="38" name="Shape 36"/>
          <p:cNvSpPr/>
          <p:nvPr/>
        </p:nvSpPr>
        <p:spPr>
          <a:xfrm>
            <a:off x="6391275" y="4029075"/>
            <a:ext cx="4781550" cy="476250"/>
          </a:xfrm>
          <a:prstGeom prst="roundRect">
            <a:avLst>
              <a:gd name="adj" fmla="val 16000"/>
            </a:avLst>
          </a:prstGeom>
          <a:solidFill>
            <a:srgbClr val="493E4A"/>
          </a:solidFill>
          <a:ln w="9525">
            <a:solidFill>
              <a:srgbClr val="6B60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34150" y="4214813"/>
            <a:ext cx="104775" cy="104775"/>
          </a:xfrm>
          <a:prstGeom prst="ellipse">
            <a:avLst/>
          </a:prstGeom>
          <a:solidFill>
            <a:srgbClr val="AAB4B0"/>
          </a:solidFill>
          <a:ln/>
        </p:spPr>
      </p:sp>
      <p:sp>
        <p:nvSpPr>
          <p:cNvPr id="40" name="Text 38"/>
          <p:cNvSpPr/>
          <p:nvPr/>
        </p:nvSpPr>
        <p:spPr>
          <a:xfrm>
            <a:off x="6772275" y="4176712"/>
            <a:ext cx="373675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8E1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queue</a:t>
            </a:r>
            <a:endParaRPr lang="en-US" sz="1125" dirty="0"/>
          </a:p>
        </p:txBody>
      </p:sp>
      <p:sp>
        <p:nvSpPr>
          <p:cNvPr id="41" name="Shape 39"/>
          <p:cNvSpPr/>
          <p:nvPr/>
        </p:nvSpPr>
        <p:spPr>
          <a:xfrm>
            <a:off x="10533538" y="4140994"/>
            <a:ext cx="496411" cy="252413"/>
          </a:xfrm>
          <a:prstGeom prst="roundRect">
            <a:avLst>
              <a:gd name="adj" fmla="val 22641"/>
            </a:avLst>
          </a:prstGeom>
          <a:solidFill>
            <a:srgbClr val="584B59"/>
          </a:solidFill>
          <a:ln/>
        </p:spPr>
      </p:sp>
      <p:sp>
        <p:nvSpPr>
          <p:cNvPr id="42" name="Text 40"/>
          <p:cNvSpPr/>
          <p:nvPr/>
        </p:nvSpPr>
        <p:spPr>
          <a:xfrm>
            <a:off x="10619263" y="4188619"/>
            <a:ext cx="40116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6AF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975" dirty="0"/>
          </a:p>
        </p:txBody>
      </p:sp>
      <p:sp>
        <p:nvSpPr>
          <p:cNvPr id="43" name="Shape 41"/>
          <p:cNvSpPr/>
          <p:nvPr/>
        </p:nvSpPr>
        <p:spPr>
          <a:xfrm>
            <a:off x="6391275" y="4619625"/>
            <a:ext cx="4781550" cy="476250"/>
          </a:xfrm>
          <a:prstGeom prst="roundRect">
            <a:avLst>
              <a:gd name="adj" fmla="val 16000"/>
            </a:avLst>
          </a:prstGeom>
          <a:solidFill>
            <a:srgbClr val="493E4A"/>
          </a:solidFill>
          <a:ln w="9525">
            <a:solidFill>
              <a:srgbClr val="6B60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34150" y="4805363"/>
            <a:ext cx="104775" cy="104775"/>
          </a:xfrm>
          <a:prstGeom prst="ellipse">
            <a:avLst/>
          </a:prstGeom>
          <a:solidFill>
            <a:srgbClr val="AAB4B0"/>
          </a:solidFill>
          <a:ln/>
        </p:spPr>
      </p:sp>
      <p:sp>
        <p:nvSpPr>
          <p:cNvPr id="45" name="Text 43"/>
          <p:cNvSpPr/>
          <p:nvPr/>
        </p:nvSpPr>
        <p:spPr>
          <a:xfrm>
            <a:off x="6772275" y="4767263"/>
            <a:ext cx="359907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8E1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stream</a:t>
            </a:r>
            <a:endParaRPr lang="en-US" sz="1125" dirty="0"/>
          </a:p>
        </p:txBody>
      </p:sp>
      <p:sp>
        <p:nvSpPr>
          <p:cNvPr id="46" name="Shape 44"/>
          <p:cNvSpPr/>
          <p:nvPr/>
        </p:nvSpPr>
        <p:spPr>
          <a:xfrm>
            <a:off x="10399871" y="4731544"/>
            <a:ext cx="630079" cy="252413"/>
          </a:xfrm>
          <a:prstGeom prst="roundRect">
            <a:avLst>
              <a:gd name="adj" fmla="val 22641"/>
            </a:avLst>
          </a:prstGeom>
          <a:solidFill>
            <a:srgbClr val="584B59"/>
          </a:solidFill>
          <a:ln/>
        </p:spPr>
      </p:sp>
      <p:sp>
        <p:nvSpPr>
          <p:cNvPr id="47" name="Text 45"/>
          <p:cNvSpPr/>
          <p:nvPr/>
        </p:nvSpPr>
        <p:spPr>
          <a:xfrm>
            <a:off x="10485596" y="4779169"/>
            <a:ext cx="534829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6AF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Synced</a:t>
            </a:r>
            <a:endParaRPr lang="en-US" sz="975" dirty="0"/>
          </a:p>
        </p:txBody>
      </p:sp>
      <p:sp>
        <p:nvSpPr>
          <p:cNvPr id="48" name="Shape 46"/>
          <p:cNvSpPr/>
          <p:nvPr/>
        </p:nvSpPr>
        <p:spPr>
          <a:xfrm>
            <a:off x="6391275" y="5229225"/>
            <a:ext cx="4781550" cy="361950"/>
          </a:xfrm>
          <a:prstGeom prst="roundRect">
            <a:avLst>
              <a:gd name="adj" fmla="val 21053"/>
            </a:avLst>
          </a:prstGeom>
          <a:solidFill>
            <a:srgbClr val="D7A095"/>
          </a:solidFill>
          <a:ln/>
        </p:spPr>
      </p:sp>
      <p:sp>
        <p:nvSpPr>
          <p:cNvPr id="49" name="Text 47"/>
          <p:cNvSpPr/>
          <p:nvPr/>
        </p:nvSpPr>
        <p:spPr>
          <a:xfrm>
            <a:off x="6543675" y="5305425"/>
            <a:ext cx="462019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34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palette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9BF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857250"/>
            <a:ext cx="1083106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14" kern="0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Drop-in tokens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38200" y="1390650"/>
            <a:ext cx="1083106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build step. Just variables.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838200" y="2190750"/>
            <a:ext cx="10515600" cy="2967038"/>
          </a:xfrm>
          <a:prstGeom prst="roundRect">
            <a:avLst>
              <a:gd name="adj" fmla="val 3852"/>
            </a:avLst>
          </a:prstGeom>
          <a:solidFill>
            <a:srgbClr val="E8E1DB"/>
          </a:solidFill>
          <a:ln w="9525">
            <a:solidFill>
              <a:srgbClr val="AFA8A3"/>
            </a:solidFill>
            <a:prstDash val="solid"/>
          </a:ln>
          <a:effectLst>
            <a:outerShdw sx="100000" sy="100000" kx="0" ky="0" algn="bl" rotWithShape="0" blurRad="381000" dist="17145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7725" y="2200275"/>
            <a:ext cx="10496550" cy="428625"/>
          </a:xfrm>
          <a:prstGeom prst="rect">
            <a:avLst/>
          </a:prstGeom>
          <a:solidFill>
            <a:srgbClr val="DAD2CB"/>
          </a:solidFill>
          <a:ln/>
        </p:spPr>
      </p:sp>
      <p:sp>
        <p:nvSpPr>
          <p:cNvPr id="6" name="Shape 4"/>
          <p:cNvSpPr/>
          <p:nvPr/>
        </p:nvSpPr>
        <p:spPr>
          <a:xfrm>
            <a:off x="847725" y="2619375"/>
            <a:ext cx="10496550" cy="9525"/>
          </a:xfrm>
          <a:prstGeom prst="rect">
            <a:avLst/>
          </a:prstGeom>
          <a:solidFill>
            <a:srgbClr val="AFA8A3"/>
          </a:solidFill>
          <a:ln/>
        </p:spPr>
      </p:sp>
      <p:sp>
        <p:nvSpPr>
          <p:cNvPr id="7" name="Shape 5"/>
          <p:cNvSpPr/>
          <p:nvPr/>
        </p:nvSpPr>
        <p:spPr>
          <a:xfrm>
            <a:off x="1019175" y="2357438"/>
            <a:ext cx="104775" cy="104775"/>
          </a:xfrm>
          <a:prstGeom prst="ellipse">
            <a:avLst/>
          </a:prstGeom>
          <a:solidFill>
            <a:srgbClr val="625B5E"/>
          </a:solidFill>
          <a:ln/>
        </p:spPr>
      </p:sp>
      <p:sp>
        <p:nvSpPr>
          <p:cNvPr id="8" name="Shape 6"/>
          <p:cNvSpPr/>
          <p:nvPr/>
        </p:nvSpPr>
        <p:spPr>
          <a:xfrm>
            <a:off x="1190625" y="2357438"/>
            <a:ext cx="104775" cy="104775"/>
          </a:xfrm>
          <a:prstGeom prst="ellipse">
            <a:avLst/>
          </a:prstGeom>
          <a:solidFill>
            <a:srgbClr val="79837F"/>
          </a:solidFill>
          <a:ln/>
        </p:spPr>
      </p:sp>
      <p:sp>
        <p:nvSpPr>
          <p:cNvPr id="9" name="Shape 7"/>
          <p:cNvSpPr/>
          <p:nvPr/>
        </p:nvSpPr>
        <p:spPr>
          <a:xfrm>
            <a:off x="1362075" y="2357438"/>
            <a:ext cx="104775" cy="104775"/>
          </a:xfrm>
          <a:prstGeom prst="ellipse">
            <a:avLst/>
          </a:prstGeom>
          <a:solidFill>
            <a:srgbClr val="7E4F49"/>
          </a:solidFill>
          <a:ln/>
        </p:spPr>
      </p:sp>
      <p:sp>
        <p:nvSpPr>
          <p:cNvPr id="10" name="Text 8"/>
          <p:cNvSpPr/>
          <p:nvPr/>
        </p:nvSpPr>
        <p:spPr>
          <a:xfrm>
            <a:off x="1600200" y="2324100"/>
            <a:ext cx="6784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25B5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inm.css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019175" y="2838450"/>
            <a:ext cx="179387" cy="2138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625B5E">
                    <a:alpha val="70000"/>
                  </a:srgbClr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1 2 3 4 5 6 7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408112" y="2838450"/>
            <a:ext cx="9979168" cy="2138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350" b="1" i="1" dirty="0">
                <a:solidFill>
                  <a:srgbClr val="625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light scope — warm stone canvas */ 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625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 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2F27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50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2F27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350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7E4F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--bg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625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2F27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oklch(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A17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81%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2F27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A17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.017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2F27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A17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64.6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2F27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625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2F27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7E4F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--text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625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2F27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oklch(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A17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28%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2F27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A17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.020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2F27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A17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322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2F27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625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2F27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7E4F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--accent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625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2F27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oklch(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A17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48%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2F27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A17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.065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2F27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A17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2F27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625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2F27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7E4F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--border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625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2F27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oklch(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A17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74%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2F27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A17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.011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2F27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A17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2F27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625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ct val="175000"/>
              </a:lnSpc>
              <a:buNone/>
            </a:pPr>
            <a:r>
              <a:rPr lang="en-US" sz="1350" b="1" dirty="0">
                <a:solidFill>
                  <a:srgbClr val="2F27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38200" y="5986463"/>
            <a:ext cx="173974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inm — implementation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70286" y="5988844"/>
            <a:ext cx="25971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25B5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9BF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857250"/>
            <a:ext cx="1083106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14" kern="0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Readable by the numbers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38200" y="1390650"/>
            <a:ext cx="1083106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APCA-informed contrast, both modes.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838200" y="3150394"/>
            <a:ext cx="2500313" cy="1647825"/>
          </a:xfrm>
          <a:prstGeom prst="roundRect">
            <a:avLst>
              <a:gd name="adj" fmla="val 5780"/>
            </a:avLst>
          </a:prstGeom>
          <a:solidFill>
            <a:srgbClr val="DAD2CB"/>
          </a:solidFill>
          <a:ln w="9525">
            <a:solidFill>
              <a:srgbClr val="AFA8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6325" y="3448050"/>
            <a:ext cx="104775" cy="104775"/>
          </a:xfrm>
          <a:prstGeom prst="ellipse">
            <a:avLst/>
          </a:prstGeom>
          <a:solidFill>
            <a:srgbClr val="7E4F49"/>
          </a:solidFill>
          <a:ln/>
        </p:spPr>
      </p:sp>
      <p:sp>
        <p:nvSpPr>
          <p:cNvPr id="6" name="Text 4"/>
          <p:cNvSpPr/>
          <p:nvPr/>
        </p:nvSpPr>
        <p:spPr>
          <a:xfrm>
            <a:off x="1266825" y="3407569"/>
            <a:ext cx="784860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text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6325" y="3707606"/>
            <a:ext cx="2100263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50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</a:t>
            </a:r>
            <a:endParaRPr lang="en-US" sz="4350" dirty="0"/>
          </a:p>
        </p:txBody>
      </p:sp>
      <p:sp>
        <p:nvSpPr>
          <p:cNvPr id="8" name="Text 6"/>
          <p:cNvSpPr/>
          <p:nvPr/>
        </p:nvSpPr>
        <p:spPr>
          <a:xfrm>
            <a:off x="1076325" y="4374356"/>
            <a:ext cx="2100263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98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APCA Lc · light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09963" y="3150394"/>
            <a:ext cx="2500313" cy="1647825"/>
          </a:xfrm>
          <a:prstGeom prst="roundRect">
            <a:avLst>
              <a:gd name="adj" fmla="val 5780"/>
            </a:avLst>
          </a:prstGeom>
          <a:solidFill>
            <a:srgbClr val="DAD2CB"/>
          </a:solidFill>
          <a:ln w="9525">
            <a:solidFill>
              <a:srgbClr val="AFA8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8087" y="3448050"/>
            <a:ext cx="104775" cy="104775"/>
          </a:xfrm>
          <a:prstGeom prst="ellipse">
            <a:avLst/>
          </a:prstGeom>
          <a:solidFill>
            <a:srgbClr val="A1736B"/>
          </a:solidFill>
          <a:ln/>
        </p:spPr>
      </p:sp>
      <p:sp>
        <p:nvSpPr>
          <p:cNvPr id="11" name="Text 9"/>
          <p:cNvSpPr/>
          <p:nvPr/>
        </p:nvSpPr>
        <p:spPr>
          <a:xfrm>
            <a:off x="3938588" y="3407569"/>
            <a:ext cx="608330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48087" y="3707606"/>
            <a:ext cx="2100263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50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</a:t>
            </a:r>
            <a:endParaRPr lang="en-US" sz="4350" dirty="0"/>
          </a:p>
        </p:txBody>
      </p:sp>
      <p:sp>
        <p:nvSpPr>
          <p:cNvPr id="13" name="Text 11"/>
          <p:cNvSpPr/>
          <p:nvPr/>
        </p:nvSpPr>
        <p:spPr>
          <a:xfrm>
            <a:off x="3748087" y="4374356"/>
            <a:ext cx="2100263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98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Lc on canvas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1725" y="3150394"/>
            <a:ext cx="2500313" cy="1647825"/>
          </a:xfrm>
          <a:prstGeom prst="roundRect">
            <a:avLst>
              <a:gd name="adj" fmla="val 5780"/>
            </a:avLst>
          </a:prstGeom>
          <a:solidFill>
            <a:srgbClr val="DAD2CB"/>
          </a:solidFill>
          <a:ln w="9525">
            <a:solidFill>
              <a:srgbClr val="AFA8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19850" y="3448050"/>
            <a:ext cx="104775" cy="104775"/>
          </a:xfrm>
          <a:prstGeom prst="ellipse">
            <a:avLst/>
          </a:prstGeom>
          <a:solidFill>
            <a:srgbClr val="79837F"/>
          </a:solidFill>
          <a:ln/>
        </p:spPr>
      </p:sp>
      <p:sp>
        <p:nvSpPr>
          <p:cNvPr id="16" name="Text 14"/>
          <p:cNvSpPr/>
          <p:nvPr/>
        </p:nvSpPr>
        <p:spPr>
          <a:xfrm>
            <a:off x="6610350" y="3407569"/>
            <a:ext cx="871061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Body, dark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19850" y="3707606"/>
            <a:ext cx="2100263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50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-82</a:t>
            </a:r>
            <a:endParaRPr lang="en-US" sz="4350" dirty="0"/>
          </a:p>
        </p:txBody>
      </p:sp>
      <p:sp>
        <p:nvSpPr>
          <p:cNvPr id="18" name="Text 16"/>
          <p:cNvSpPr/>
          <p:nvPr/>
        </p:nvSpPr>
        <p:spPr>
          <a:xfrm>
            <a:off x="6419850" y="4374356"/>
            <a:ext cx="2100263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98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APCA Lc · dark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853488" y="3150394"/>
            <a:ext cx="2500313" cy="1647825"/>
          </a:xfrm>
          <a:prstGeom prst="roundRect">
            <a:avLst>
              <a:gd name="adj" fmla="val 5780"/>
            </a:avLst>
          </a:prstGeom>
          <a:solidFill>
            <a:srgbClr val="DAD2CB"/>
          </a:solidFill>
          <a:ln w="9525">
            <a:solidFill>
              <a:srgbClr val="AFA8A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1613" y="3448050"/>
            <a:ext cx="104775" cy="104775"/>
          </a:xfrm>
          <a:prstGeom prst="ellipse">
            <a:avLst/>
          </a:prstGeom>
          <a:solidFill>
            <a:srgbClr val="625B5E"/>
          </a:solidFill>
          <a:ln/>
        </p:spPr>
      </p:sp>
      <p:sp>
        <p:nvSpPr>
          <p:cNvPr id="21" name="Text 19"/>
          <p:cNvSpPr/>
          <p:nvPr/>
        </p:nvSpPr>
        <p:spPr>
          <a:xfrm>
            <a:off x="9282113" y="3407569"/>
            <a:ext cx="664051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Chroma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091613" y="3707606"/>
            <a:ext cx="2100263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50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</a:t>
            </a:r>
            <a:endParaRPr lang="en-US" sz="4350" dirty="0"/>
          </a:p>
        </p:txBody>
      </p:sp>
      <p:sp>
        <p:nvSpPr>
          <p:cNvPr id="23" name="Text 21"/>
          <p:cNvSpPr/>
          <p:nvPr/>
        </p:nvSpPr>
        <p:spPr>
          <a:xfrm>
            <a:off x="9091613" y="4374356"/>
            <a:ext cx="2100263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98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0.01–0.07 OKLCH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38200" y="5986463"/>
            <a:ext cx="119967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inm — contrast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170286" y="5988844"/>
            <a:ext cx="25971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25B5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E3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857250"/>
            <a:ext cx="1083106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14" kern="0" dirty="0">
                <a:solidFill>
                  <a:srgbClr val="B6AF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by role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38200" y="1390650"/>
            <a:ext cx="1083106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E8E1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tokens at a glance.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838200" y="2228850"/>
            <a:ext cx="10515600" cy="3600450"/>
          </a:xfrm>
          <a:prstGeom prst="roundRect">
            <a:avLst>
              <a:gd name="adj" fmla="val 3175"/>
            </a:avLst>
          </a:prstGeom>
          <a:solidFill>
            <a:srgbClr val="493E4A"/>
          </a:solidFill>
          <a:ln w="9525">
            <a:solidFill>
              <a:srgbClr val="6B60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7725" y="2238375"/>
            <a:ext cx="10496550" cy="495300"/>
          </a:xfrm>
          <a:prstGeom prst="rect">
            <a:avLst/>
          </a:prstGeom>
          <a:solidFill>
            <a:srgbClr val="584B59"/>
          </a:solidFill>
          <a:ln/>
        </p:spPr>
      </p:sp>
      <p:sp>
        <p:nvSpPr>
          <p:cNvPr id="6" name="Shape 4"/>
          <p:cNvSpPr/>
          <p:nvPr/>
        </p:nvSpPr>
        <p:spPr>
          <a:xfrm>
            <a:off x="847725" y="2724150"/>
            <a:ext cx="10496550" cy="9525"/>
          </a:xfrm>
          <a:prstGeom prst="rect">
            <a:avLst/>
          </a:prstGeom>
          <a:solidFill>
            <a:srgbClr val="6B6069"/>
          </a:solidFill>
          <a:ln/>
        </p:spPr>
      </p:sp>
      <p:sp>
        <p:nvSpPr>
          <p:cNvPr id="7" name="Text 5"/>
          <p:cNvSpPr/>
          <p:nvPr/>
        </p:nvSpPr>
        <p:spPr>
          <a:xfrm>
            <a:off x="1076325" y="2390775"/>
            <a:ext cx="405870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B6AF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5207318" y="2390775"/>
            <a:ext cx="304394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B6AF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8353108" y="2390775"/>
            <a:ext cx="204644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B6AF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APCA LC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0513854" y="2390775"/>
            <a:ext cx="6780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B6AF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076325" y="2914650"/>
            <a:ext cx="399918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E8E1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text.body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5149532" y="2945606"/>
            <a:ext cx="299931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6AF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reading text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51984" y="2924175"/>
            <a:ext cx="201755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E1D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-82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383837" y="2886075"/>
            <a:ext cx="731837" cy="304800"/>
          </a:xfrm>
          <a:prstGeom prst="roundRect">
            <a:avLst>
              <a:gd name="adj" fmla="val 50000"/>
            </a:avLst>
          </a:prstGeom>
          <a:solidFill>
            <a:srgbClr val="584B59"/>
          </a:solidFill>
          <a:ln w="9525">
            <a:solidFill>
              <a:srgbClr val="9578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7187" y="2990850"/>
            <a:ext cx="95250" cy="95250"/>
          </a:xfrm>
          <a:prstGeom prst="ellipse">
            <a:avLst/>
          </a:prstGeom>
          <a:solidFill>
            <a:srgbClr val="D7A095"/>
          </a:solidFill>
          <a:ln/>
        </p:spPr>
      </p:sp>
      <p:sp>
        <p:nvSpPr>
          <p:cNvPr id="16" name="Text 14"/>
          <p:cNvSpPr/>
          <p:nvPr/>
        </p:nvSpPr>
        <p:spPr>
          <a:xfrm>
            <a:off x="10688637" y="2955131"/>
            <a:ext cx="369887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7A0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47725" y="3343275"/>
            <a:ext cx="10496550" cy="619125"/>
          </a:xfrm>
          <a:prstGeom prst="rect">
            <a:avLst/>
          </a:prstGeom>
          <a:solidFill>
            <a:srgbClr val="584B59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47725" y="3343275"/>
            <a:ext cx="10496550" cy="9525"/>
          </a:xfrm>
          <a:prstGeom prst="rect">
            <a:avLst/>
          </a:prstGeom>
          <a:solidFill>
            <a:srgbClr val="6B6069"/>
          </a:solidFill>
          <a:ln/>
        </p:spPr>
      </p:sp>
      <p:sp>
        <p:nvSpPr>
          <p:cNvPr id="19" name="Text 17"/>
          <p:cNvSpPr/>
          <p:nvPr/>
        </p:nvSpPr>
        <p:spPr>
          <a:xfrm>
            <a:off x="1076325" y="3533775"/>
            <a:ext cx="399918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E8E1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text.muted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5149532" y="3564731"/>
            <a:ext cx="299931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6AF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Metadata, captions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51984" y="3543300"/>
            <a:ext cx="201755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E1D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-58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0383837" y="3505200"/>
            <a:ext cx="731837" cy="304800"/>
          </a:xfrm>
          <a:prstGeom prst="roundRect">
            <a:avLst>
              <a:gd name="adj" fmla="val 50000"/>
            </a:avLst>
          </a:prstGeom>
          <a:solidFill>
            <a:srgbClr val="584B59"/>
          </a:solidFill>
          <a:ln w="9525">
            <a:solidFill>
              <a:srgbClr val="9578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17187" y="3609975"/>
            <a:ext cx="95250" cy="95250"/>
          </a:xfrm>
          <a:prstGeom prst="ellipse">
            <a:avLst/>
          </a:prstGeom>
          <a:solidFill>
            <a:srgbClr val="D7A095"/>
          </a:solidFill>
          <a:ln/>
        </p:spPr>
      </p:sp>
      <p:sp>
        <p:nvSpPr>
          <p:cNvPr id="24" name="Text 22"/>
          <p:cNvSpPr/>
          <p:nvPr/>
        </p:nvSpPr>
        <p:spPr>
          <a:xfrm>
            <a:off x="10688637" y="3574256"/>
            <a:ext cx="369887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7A0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47725" y="3962400"/>
            <a:ext cx="10496550" cy="9525"/>
          </a:xfrm>
          <a:prstGeom prst="rect">
            <a:avLst/>
          </a:prstGeom>
          <a:solidFill>
            <a:srgbClr val="6B6069"/>
          </a:solidFill>
          <a:ln/>
        </p:spPr>
      </p:sp>
      <p:sp>
        <p:nvSpPr>
          <p:cNvPr id="26" name="Text 24"/>
          <p:cNvSpPr/>
          <p:nvPr/>
        </p:nvSpPr>
        <p:spPr>
          <a:xfrm>
            <a:off x="1076325" y="4152900"/>
            <a:ext cx="399918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E8E1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accent.clay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5149532" y="4183856"/>
            <a:ext cx="299931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6AF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Actions, links, active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51984" y="4162425"/>
            <a:ext cx="201755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E1D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-61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0383837" y="4124325"/>
            <a:ext cx="731837" cy="304800"/>
          </a:xfrm>
          <a:prstGeom prst="roundRect">
            <a:avLst>
              <a:gd name="adj" fmla="val 50000"/>
            </a:avLst>
          </a:prstGeom>
          <a:solidFill>
            <a:srgbClr val="584B59"/>
          </a:solidFill>
          <a:ln w="9525">
            <a:solidFill>
              <a:srgbClr val="95788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517187" y="4229100"/>
            <a:ext cx="95250" cy="95250"/>
          </a:xfrm>
          <a:prstGeom prst="ellipse">
            <a:avLst/>
          </a:prstGeom>
          <a:solidFill>
            <a:srgbClr val="D7A095"/>
          </a:solidFill>
          <a:ln/>
        </p:spPr>
      </p:sp>
      <p:sp>
        <p:nvSpPr>
          <p:cNvPr id="31" name="Text 29"/>
          <p:cNvSpPr/>
          <p:nvPr/>
        </p:nvSpPr>
        <p:spPr>
          <a:xfrm>
            <a:off x="10688637" y="4193381"/>
            <a:ext cx="369887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7A0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47725" y="4581525"/>
            <a:ext cx="10496550" cy="619125"/>
          </a:xfrm>
          <a:prstGeom prst="rect">
            <a:avLst/>
          </a:prstGeom>
          <a:solidFill>
            <a:srgbClr val="584B59">
              <a:alpha val="4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47725" y="4581525"/>
            <a:ext cx="10496550" cy="9525"/>
          </a:xfrm>
          <a:prstGeom prst="rect">
            <a:avLst/>
          </a:prstGeom>
          <a:solidFill>
            <a:srgbClr val="6B6069"/>
          </a:solidFill>
          <a:ln/>
        </p:spPr>
      </p:sp>
      <p:sp>
        <p:nvSpPr>
          <p:cNvPr id="34" name="Text 32"/>
          <p:cNvSpPr/>
          <p:nvPr/>
        </p:nvSpPr>
        <p:spPr>
          <a:xfrm>
            <a:off x="1076325" y="4772025"/>
            <a:ext cx="39162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E8E1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border.hair</a:t>
            </a:r>
            <a:endParaRPr lang="en-US" sz="1575" dirty="0"/>
          </a:p>
        </p:txBody>
      </p:sp>
      <p:sp>
        <p:nvSpPr>
          <p:cNvPr id="35" name="Text 33"/>
          <p:cNvSpPr/>
          <p:nvPr/>
        </p:nvSpPr>
        <p:spPr>
          <a:xfrm>
            <a:off x="5069046" y="4802981"/>
            <a:ext cx="29371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6AF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Surface divisions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111172" y="4781550"/>
            <a:ext cx="197723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E1D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-14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0202704" y="4743450"/>
            <a:ext cx="912971" cy="304800"/>
          </a:xfrm>
          <a:prstGeom prst="roundRect">
            <a:avLst>
              <a:gd name="adj" fmla="val 50000"/>
            </a:avLst>
          </a:prstGeom>
          <a:solidFill>
            <a:srgbClr val="584B59"/>
          </a:solidFill>
          <a:ln w="9525">
            <a:solidFill>
              <a:srgbClr val="6B60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336054" y="4848225"/>
            <a:ext cx="95250" cy="95250"/>
          </a:xfrm>
          <a:prstGeom prst="ellipse">
            <a:avLst/>
          </a:prstGeom>
          <a:solidFill>
            <a:srgbClr val="AAB4B0"/>
          </a:solidFill>
          <a:ln/>
        </p:spPr>
      </p:sp>
      <p:sp>
        <p:nvSpPr>
          <p:cNvPr id="39" name="Text 37"/>
          <p:cNvSpPr/>
          <p:nvPr/>
        </p:nvSpPr>
        <p:spPr>
          <a:xfrm>
            <a:off x="10507504" y="4812506"/>
            <a:ext cx="551021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6AF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47725" y="5200650"/>
            <a:ext cx="10496550" cy="9525"/>
          </a:xfrm>
          <a:prstGeom prst="rect">
            <a:avLst/>
          </a:prstGeom>
          <a:solidFill>
            <a:srgbClr val="6B6069"/>
          </a:solidFill>
          <a:ln/>
        </p:spPr>
      </p:sp>
      <p:sp>
        <p:nvSpPr>
          <p:cNvPr id="41" name="Text 39"/>
          <p:cNvSpPr/>
          <p:nvPr/>
        </p:nvSpPr>
        <p:spPr>
          <a:xfrm>
            <a:off x="1076325" y="5391150"/>
            <a:ext cx="39162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E8E1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cool.mist</a:t>
            </a:r>
            <a:endParaRPr lang="en-US" sz="1575" dirty="0"/>
          </a:p>
        </p:txBody>
      </p:sp>
      <p:sp>
        <p:nvSpPr>
          <p:cNvPr id="42" name="Text 40"/>
          <p:cNvSpPr/>
          <p:nvPr/>
        </p:nvSpPr>
        <p:spPr>
          <a:xfrm>
            <a:off x="5069046" y="5422106"/>
            <a:ext cx="29371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6AF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Quiet status tone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111172" y="5400675"/>
            <a:ext cx="197723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E1D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-44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10202704" y="5362575"/>
            <a:ext cx="912971" cy="304800"/>
          </a:xfrm>
          <a:prstGeom prst="roundRect">
            <a:avLst>
              <a:gd name="adj" fmla="val 50000"/>
            </a:avLst>
          </a:prstGeom>
          <a:solidFill>
            <a:srgbClr val="584B59"/>
          </a:solidFill>
          <a:ln w="9525">
            <a:solidFill>
              <a:srgbClr val="6B60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336054" y="5467350"/>
            <a:ext cx="95250" cy="95250"/>
          </a:xfrm>
          <a:prstGeom prst="ellipse">
            <a:avLst/>
          </a:prstGeom>
          <a:solidFill>
            <a:srgbClr val="AAB4B0"/>
          </a:solidFill>
          <a:ln/>
        </p:spPr>
      </p:sp>
      <p:sp>
        <p:nvSpPr>
          <p:cNvPr id="46" name="Text 44"/>
          <p:cNvSpPr/>
          <p:nvPr/>
        </p:nvSpPr>
        <p:spPr>
          <a:xfrm>
            <a:off x="10507504" y="5431631"/>
            <a:ext cx="551021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6AF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38200" y="5986463"/>
            <a:ext cx="140350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6AF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inm — token table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1170286" y="5988844"/>
            <a:ext cx="25971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6AFA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9BF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857250"/>
            <a:ext cx="1083106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14" kern="0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rolls out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38200" y="1390650"/>
            <a:ext cx="1083106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tokens to shipped product.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42975" y="3274219"/>
            <a:ext cx="171450" cy="171450"/>
          </a:xfrm>
          <a:prstGeom prst="ellipse">
            <a:avLst/>
          </a:prstGeom>
          <a:solidFill>
            <a:srgbClr val="7E4F49"/>
          </a:solidFill>
          <a:ln w="38100">
            <a:solidFill>
              <a:srgbClr val="C9BF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8200" y="3579019"/>
            <a:ext cx="24193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25B5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Week 1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838200" y="3883819"/>
            <a:ext cx="24193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Adopt tokens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" y="4298156"/>
            <a:ext cx="24193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b="1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 in the OKLCH variables; wire light and dark roots.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3629025" y="3274219"/>
            <a:ext cx="171450" cy="171450"/>
          </a:xfrm>
          <a:prstGeom prst="ellipse">
            <a:avLst/>
          </a:prstGeom>
          <a:solidFill>
            <a:srgbClr val="7E4F49"/>
          </a:solidFill>
          <a:ln w="38100">
            <a:solidFill>
              <a:srgbClr val="C9BF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4250" y="3579019"/>
            <a:ext cx="24193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25B5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Week 2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3524250" y="3883819"/>
            <a:ext cx="24193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components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24250" y="4298156"/>
            <a:ext cx="24193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b="1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Buttons, inputs, rows, badges on the shared scale.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6315075" y="3274219"/>
            <a:ext cx="171450" cy="171450"/>
          </a:xfrm>
          <a:prstGeom prst="ellipse">
            <a:avLst/>
          </a:prstGeom>
          <a:solidFill>
            <a:srgbClr val="79837F"/>
          </a:solidFill>
          <a:ln w="38100">
            <a:solidFill>
              <a:srgbClr val="C9BF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0300" y="3579019"/>
            <a:ext cx="24193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25B5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Week 3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6210300" y="3883819"/>
            <a:ext cx="24193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Tune contrast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10300" y="4298156"/>
            <a:ext cx="24193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b="1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APCA across surfaces; adjust muted and accent.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9001125" y="3274219"/>
            <a:ext cx="171450" cy="171450"/>
          </a:xfrm>
          <a:prstGeom prst="ellipse">
            <a:avLst/>
          </a:prstGeom>
          <a:solidFill>
            <a:srgbClr val="79837F"/>
          </a:solidFill>
          <a:ln w="38100">
            <a:solidFill>
              <a:srgbClr val="C9BF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96350" y="3579019"/>
            <a:ext cx="24193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25B5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Week 4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8896350" y="3883819"/>
            <a:ext cx="24193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&amp; hand off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96350" y="4298156"/>
            <a:ext cx="24193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b="1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Tailwind config; document in DESIGN.md.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838200" y="5986463"/>
            <a:ext cx="105457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inm — rollout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170286" y="5988844"/>
            <a:ext cx="25971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25B5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9BF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857250"/>
            <a:ext cx="1083106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14" kern="0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adoption works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38200" y="1390650"/>
            <a:ext cx="1083106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steps to a shipped palette.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876300" y="2362200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7E4F49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236220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E1D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76400" y="2400300"/>
            <a:ext cx="996772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 in the tokens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1676400" y="2757488"/>
            <a:ext cx="745617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the OKLCH variables and wire the light and dark roots — no build step required.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76300" y="3272790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7E4F49"/>
          </a:solidFill>
          <a:ln/>
        </p:spPr>
      </p:sp>
      <p:sp>
        <p:nvSpPr>
          <p:cNvPr id="9" name="Text 7"/>
          <p:cNvSpPr/>
          <p:nvPr/>
        </p:nvSpPr>
        <p:spPr>
          <a:xfrm>
            <a:off x="876300" y="327279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E1D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76400" y="3310890"/>
            <a:ext cx="996772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on the scale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676400" y="3668078"/>
            <a:ext cx="7456170" cy="286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Compose buttons, inputs, rows, and badges from the shared semantic tokens.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76300" y="4183380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DAD2CB"/>
          </a:solidFill>
          <a:ln w="9525">
            <a:solidFill>
              <a:srgbClr val="AFA8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5825" y="4192905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5B5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76400" y="4221480"/>
            <a:ext cx="996772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Tune the contrast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1676400" y="4578668"/>
            <a:ext cx="7456170" cy="53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APCA across every surface; nudge muted and accent until both modes read clean.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76300" y="5342573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DAD2CB"/>
          </a:solidFill>
          <a:ln w="9525">
            <a:solidFill>
              <a:srgbClr val="AFA8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5825" y="5352098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5B5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76400" y="5380673"/>
            <a:ext cx="996772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 it off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1676400" y="5737860"/>
            <a:ext cx="745617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the Tailwind config and document the system in a portable DESIGN.md.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38200" y="6119813"/>
            <a:ext cx="117506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inm — process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170286" y="6122194"/>
            <a:ext cx="25971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25B5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9BF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857250"/>
            <a:ext cx="1083106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14" kern="0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Who's behind it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38200" y="1390650"/>
            <a:ext cx="1083106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maintainers.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838200" y="2768918"/>
            <a:ext cx="2486025" cy="1524000"/>
          </a:xfrm>
          <a:prstGeom prst="roundRect">
            <a:avLst>
              <a:gd name="adj" fmla="val 7500"/>
            </a:avLst>
          </a:prstGeom>
          <a:solidFill>
            <a:srgbClr val="DAD2CB"/>
          </a:solidFill>
          <a:ln w="9525">
            <a:solidFill>
              <a:srgbClr val="AFA8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8200" y="4426268"/>
            <a:ext cx="25622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Ida Mraz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38200" y="4740593"/>
            <a:ext cx="25622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E4F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5059680"/>
            <a:ext cx="2562225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Owns the palette spec and contrast targets.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14725" y="2768918"/>
            <a:ext cx="2486025" cy="1524000"/>
          </a:xfrm>
          <a:prstGeom prst="roundRect">
            <a:avLst>
              <a:gd name="adj" fmla="val 7500"/>
            </a:avLst>
          </a:prstGeom>
          <a:solidFill>
            <a:srgbClr val="DAD2CB"/>
          </a:solidFill>
          <a:ln w="9525">
            <a:solidFill>
              <a:srgbClr val="AFA8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4725" y="4426268"/>
            <a:ext cx="25622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Rune Kalla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3514725" y="4740593"/>
            <a:ext cx="25622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E4F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Systems design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14725" y="5059680"/>
            <a:ext cx="2562225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Builds the token pipeline and Tailwind output.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91250" y="2768918"/>
            <a:ext cx="2486025" cy="1524000"/>
          </a:xfrm>
          <a:prstGeom prst="roundRect">
            <a:avLst>
              <a:gd name="adj" fmla="val 7500"/>
            </a:avLst>
          </a:prstGeom>
          <a:solidFill>
            <a:srgbClr val="DAD2CB"/>
          </a:solidFill>
          <a:ln w="9525">
            <a:solidFill>
              <a:srgbClr val="AFA8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1250" y="4426268"/>
            <a:ext cx="25622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Sena Oro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191250" y="4740593"/>
            <a:ext cx="25622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E4F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UI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91250" y="5059680"/>
            <a:ext cx="2562225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Tests the system in dense dashboards and tools.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867775" y="2768918"/>
            <a:ext cx="2486025" cy="1524000"/>
          </a:xfrm>
          <a:prstGeom prst="roundRect">
            <a:avLst>
              <a:gd name="adj" fmla="val 7500"/>
            </a:avLst>
          </a:prstGeom>
          <a:solidFill>
            <a:srgbClr val="DAD2CB"/>
          </a:solidFill>
          <a:ln w="9525">
            <a:solidFill>
              <a:srgbClr val="AFA8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7775" y="4426268"/>
            <a:ext cx="25622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Vel Antu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867775" y="4740593"/>
            <a:ext cx="25622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E4F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67775" y="5059680"/>
            <a:ext cx="2562225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Keeps DESIGN.md portable and handoff-ready.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38200" y="5986463"/>
            <a:ext cx="94996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inm — team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170286" y="5988844"/>
            <a:ext cx="25971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25B5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9BF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81800" y="1535906"/>
            <a:ext cx="486613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14" kern="0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Calm at the edges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781800" y="2069306"/>
            <a:ext cx="4866132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real product surfaces.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6781800" y="4117181"/>
            <a:ext cx="133350" cy="133350"/>
          </a:xfrm>
          <a:prstGeom prst="rect">
            <a:avLst/>
          </a:prstGeom>
          <a:solidFill>
            <a:srgbClr val="7E4F49"/>
          </a:solidFill>
          <a:ln/>
        </p:spPr>
      </p:sp>
      <p:sp>
        <p:nvSpPr>
          <p:cNvPr id="5" name="Text 3"/>
          <p:cNvSpPr/>
          <p:nvPr/>
        </p:nvSpPr>
        <p:spPr>
          <a:xfrm>
            <a:off x="7048500" y="4069556"/>
            <a:ext cx="45914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Editorial workspaces and long-form tools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781800" y="4460081"/>
            <a:ext cx="133350" cy="133350"/>
          </a:xfrm>
          <a:prstGeom prst="rect">
            <a:avLst/>
          </a:prstGeom>
          <a:solidFill>
            <a:srgbClr val="7E4F49"/>
          </a:solidFill>
          <a:ln/>
        </p:spPr>
      </p:sp>
      <p:sp>
        <p:nvSpPr>
          <p:cNvPr id="7" name="Text 5"/>
          <p:cNvSpPr/>
          <p:nvPr/>
        </p:nvSpPr>
        <p:spPr>
          <a:xfrm>
            <a:off x="7048500" y="4412456"/>
            <a:ext cx="45914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Dense dashboards that stay scannable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781800" y="4802981"/>
            <a:ext cx="133350" cy="133350"/>
          </a:xfrm>
          <a:prstGeom prst="rect">
            <a:avLst/>
          </a:prstGeom>
          <a:solidFill>
            <a:srgbClr val="7E4F49"/>
          </a:solidFill>
          <a:ln/>
        </p:spPr>
      </p:sp>
      <p:sp>
        <p:nvSpPr>
          <p:cNvPr id="9" name="Text 7"/>
          <p:cNvSpPr/>
          <p:nvPr/>
        </p:nvSpPr>
        <p:spPr>
          <a:xfrm>
            <a:off x="7048500" y="4755356"/>
            <a:ext cx="45914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Creative consoles in light and dark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781800" y="5307806"/>
            <a:ext cx="133254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inm — in product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322686" y="5310188"/>
            <a:ext cx="25971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25B5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3410267"/>
            <a:ext cx="18415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14" kern="0" dirty="0">
                <a:solidFill>
                  <a:srgbClr val="DDD6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Calm by design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38200" y="3943667"/>
            <a:ext cx="8829675" cy="14570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4"/>
              </a:lnSpc>
              <a:buNone/>
            </a:pPr>
            <a:r>
              <a:rPr lang="en-US" sz="5700" b="1" dirty="0">
                <a:solidFill>
                  <a:srgbClr val="F1EA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Quiet interfaces, warm at the edges.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838200" y="5514975"/>
            <a:ext cx="706374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7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Pair the palette with low-chroma, warm imagery — never cool, saturated, or high-glare.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9BF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2279015"/>
            <a:ext cx="1083106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0000"/>
              </a:lnSpc>
              <a:buNone/>
            </a:pPr>
            <a:r>
              <a:rPr lang="en-US" sz="9000" b="1" dirty="0">
                <a:solidFill>
                  <a:srgbClr val="A173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838200" y="2850515"/>
            <a:ext cx="9810750" cy="1190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6"/>
              </a:lnSpc>
              <a:buNone/>
            </a:pPr>
            <a:r>
              <a:rPr lang="en-US" sz="4200" b="1" dirty="0">
                <a:solidFill>
                  <a:srgbClr val="2F27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elevation sparingly. Prefer border and tonal changes for most hierarchy.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38200" y="4345623"/>
            <a:ext cx="10831068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5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inm design principles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E3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" y="1395571"/>
            <a:ext cx="438150" cy="438150"/>
          </a:xfrm>
          <a:prstGeom prst="roundRect">
            <a:avLst>
              <a:gd name="adj" fmla="val 21739"/>
            </a:avLst>
          </a:prstGeom>
          <a:solidFill>
            <a:srgbClr val="584B59"/>
          </a:solidFill>
          <a:ln w="9525">
            <a:solidFill>
              <a:srgbClr val="6B6069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395571"/>
            <a:ext cx="438150" cy="4381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9700" y="1438434"/>
            <a:ext cx="58626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8E1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inm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838200" y="2100421"/>
            <a:ext cx="8829675" cy="1685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4"/>
              </a:lnSpc>
              <a:buNone/>
            </a:pPr>
            <a:r>
              <a:rPr lang="en-US" sz="6900" b="1" spc="-34" kern="0" dirty="0">
                <a:solidFill>
                  <a:srgbClr val="E8E1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Calm, scannable, warm.</a:t>
            </a:r>
            <a:endParaRPr lang="en-US" sz="6900" dirty="0"/>
          </a:p>
        </p:txBody>
      </p:sp>
      <p:sp>
        <p:nvSpPr>
          <p:cNvPr id="6" name="Text 3"/>
          <p:cNvSpPr/>
          <p:nvPr/>
        </p:nvSpPr>
        <p:spPr>
          <a:xfrm>
            <a:off x="838200" y="4014629"/>
            <a:ext cx="745617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B6AF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OKLCH tokens, light and dark modes, and a portable handoff for Tailwind.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38200" y="4967129"/>
            <a:ext cx="2749868" cy="495300"/>
          </a:xfrm>
          <a:prstGeom prst="roundRect">
            <a:avLst>
              <a:gd name="adj" fmla="val 15385"/>
            </a:avLst>
          </a:prstGeom>
          <a:solidFill>
            <a:srgbClr val="D7A095"/>
          </a:solidFill>
          <a:ln/>
        </p:spPr>
      </p:sp>
      <p:sp>
        <p:nvSpPr>
          <p:cNvPr id="8" name="Text 5"/>
          <p:cNvSpPr/>
          <p:nvPr/>
        </p:nvSpPr>
        <p:spPr>
          <a:xfrm>
            <a:off x="1085850" y="5081429"/>
            <a:ext cx="23370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E34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github.com/iceice666/inm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2026-06-01T20:20:54Z</dcterms:created>
  <dcterms:modified xsi:type="dcterms:W3CDTF">2026-06-01T20:20:54Z</dcterms:modified>
</cp:coreProperties>
</file>